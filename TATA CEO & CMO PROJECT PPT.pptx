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58" r:id="rId3"/>
    <p:sldId id="257" r:id="rId4"/>
    <p:sldId id="263" r:id="rId5"/>
    <p:sldId id="260" r:id="rId6"/>
    <p:sldId id="262" r:id="rId7"/>
    <p:sldId id="264" r:id="rId8"/>
    <p:sldId id="265" r:id="rId9"/>
    <p:sldId id="261" r:id="rId10"/>
    <p:sldId id="266" r:id="rId11"/>
    <p:sldId id="267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526E654-3424-4985-973A-FBA19171A903}">
          <p14:sldIdLst/>
        </p14:section>
        <p14:section name="Untitled Section" id="{27F2E527-7BAB-4B64-B274-7DEE2572B880}">
          <p14:sldIdLst>
            <p14:sldId id="259"/>
            <p14:sldId id="258"/>
            <p14:sldId id="257"/>
            <p14:sldId id="263"/>
            <p14:sldId id="260"/>
            <p14:sldId id="262"/>
            <p14:sldId id="264"/>
            <p14:sldId id="265"/>
            <p14:sldId id="261"/>
            <p14:sldId id="266"/>
            <p14:sldId id="267"/>
            <p14:sldId id="269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54AC8-8E5F-4E53-B0EE-8192F117CA7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9C4EDF-08FF-426F-8E29-0B1539D0E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47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9C4EDF-08FF-426F-8E29-0B1539D0E3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18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7D308-0A8F-1208-EEBE-44CA8AFE9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1F915-2A16-5D9C-417A-0A0B7BF9E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68031-46A8-4B9F-E766-D7F7F6C37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5189-8637-45E0-BDBB-99DC8EAA6FE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F8D96-C58D-140F-D731-DEAA76C1C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ED8D6-1838-2F1C-D554-52FE4F940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C9D4-A1E1-41B5-9D72-46E8D647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8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9776E-3AC1-4F2E-71E2-8CCFB8FC5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BD196-4B31-2032-B33F-564B04066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6EB83-9E12-B1A3-6765-6C6BBD238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5189-8637-45E0-BDBB-99DC8EAA6FE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08A07-EDF8-775E-1F63-5A99B9758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04D8C-ECA9-4282-9E7E-5DE38098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C9D4-A1E1-41B5-9D72-46E8D647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02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15F17-9285-51CF-1CEB-CA764675C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5F0FC-54E9-1C83-748F-D8C84C151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1A46F-F02E-82E4-E86B-817B046F1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5189-8637-45E0-BDBB-99DC8EAA6FE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12F90-8070-1CB1-00E1-DFDF57BEF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33344-1D68-DE5D-066E-AB92D8C33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C9D4-A1E1-41B5-9D72-46E8D647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7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37048-4A31-9961-39D7-8ECF8E997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A022C-4AAD-282D-7654-624F2B7A6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FF1ED-E4FA-2B17-9305-279C0239E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8CCBB-3C04-933F-10BC-C8773E90F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5189-8637-45E0-BDBB-99DC8EAA6FE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24B33-BDB0-823C-D7F8-A9148D899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36825-687E-86EB-36C3-8C516A312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C9D4-A1E1-41B5-9D72-46E8D647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71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BDFD-3B13-EC26-87AC-A648E1860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FB491-5A33-4990-3414-8099940FA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5DB8B-FD51-7E2B-E200-24E142CF3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0EECD7-A2F3-1020-EA76-88C0C79D0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14ED4-1AB4-A8DC-90BF-A121B263DD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A1F7A3-3E4D-2D5C-9FA9-070060EC3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5189-8637-45E0-BDBB-99DC8EAA6FE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6CD614-C8A5-869A-C68B-805D0AE52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150F7C-D1E2-F77B-70D2-E28AD2728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C9D4-A1E1-41B5-9D72-46E8D647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1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41112-381B-9FAC-406C-D4EF85D1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70FA47-ADA5-4D22-EF40-0B3823AA6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5189-8637-45E0-BDBB-99DC8EAA6FE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C4A588-B5D0-F9E9-FAEA-07BC663A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AFF0F-DE8A-1794-AAE3-C7F8284CE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C9D4-A1E1-41B5-9D72-46E8D647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496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6560BD-F7A5-7C28-CD13-29BEB8820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5189-8637-45E0-BDBB-99DC8EAA6FE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072DEF-EC97-EBB5-61C5-ED2BA0F94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12D98-9D0C-17BA-01C5-1313CDD3D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C9D4-A1E1-41B5-9D72-46E8D647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24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94951-54BB-F9DA-D24A-AC445DE4D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44054-09BE-AF46-23A3-C8A888DDA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4DFFE-C788-DB99-93F2-48D24A38E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CEDA0-FB51-DBC7-7FB8-9BF733DE1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5189-8637-45E0-BDBB-99DC8EAA6FE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3415A-45A3-4BFB-72F7-24C8F81D1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A70B7-05B9-1130-D569-47EB07A98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C9D4-A1E1-41B5-9D72-46E8D647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63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0B7CC-CEB6-B00A-7E6B-5999739E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DAAA9F-CB77-0C94-CC1E-A552BB2430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13110-FABD-F84F-202B-DAF3E4F18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576D9-6345-8A57-E9C3-1E045521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5189-8637-45E0-BDBB-99DC8EAA6FE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34764-D389-6161-9184-2749B7951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E0882-6B9C-3F46-BE60-C613ABA0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C9D4-A1E1-41B5-9D72-46E8D647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3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99870-D860-A529-CCF1-22B35449C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4EF68-F4C7-367D-C877-8F155F170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05094-04C3-186C-C5DF-015F0667C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5189-8637-45E0-BDBB-99DC8EAA6FE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89E9A-7CBD-478D-7D33-D26A36622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41D5F-D519-1D1A-E2E4-D85C414BF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C9D4-A1E1-41B5-9D72-46E8D647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06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1694EB-742A-E321-2E2D-5E12C6FEBC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04CB52-F1E1-6A63-F538-124DB3CCBC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3B7C1-6684-7CF3-8977-FAE83920E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5189-8637-45E0-BDBB-99DC8EAA6FE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2BCBC-8D39-8648-DCBC-0DA837F29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A253B-3C3D-0D9D-FEBD-3C76567C7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C9D4-A1E1-41B5-9D72-46E8D647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62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9EDB6C-EDCF-E34B-9E39-3B82A3F39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15AD4-FBA9-6525-4819-289313FFA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9B37A-90F3-DC28-F947-F37702ED1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85189-8637-45E0-BDBB-99DC8EAA6FE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55291-DF88-71EB-97FD-4773B31E87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319D4-85C9-480F-77BA-F16BC6138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AC9D4-A1E1-41B5-9D72-46E8D647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98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49756-DBCB-8E87-45CC-6E03AB862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F45AA-1FA6-B57F-E338-A7A42B4B5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764" y="2205872"/>
            <a:ext cx="5703217" cy="192306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28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Retail performance &amp; Revenue</a:t>
            </a:r>
            <a:br>
              <a:rPr lang="en-US" sz="28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</a:br>
            <a:r>
              <a:rPr lang="en-US" sz="28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insights Report</a:t>
            </a:r>
            <a:br>
              <a:rPr lang="en-US" sz="20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</a:br>
            <a:r>
              <a:rPr lang="en-US" sz="20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Analysis of Sales Trends, Customer Behavior and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 Geographic Demand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D95FFF-C9C4-00F6-3C9A-D3881F576CF9}"/>
              </a:ext>
            </a:extLst>
          </p:cNvPr>
          <p:cNvSpPr/>
          <p:nvPr/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414D4-6293-EFAA-BA64-A6CF31324404}"/>
              </a:ext>
            </a:extLst>
          </p:cNvPr>
          <p:cNvSpPr txBox="1"/>
          <p:nvPr/>
        </p:nvSpPr>
        <p:spPr>
          <a:xfrm>
            <a:off x="1253764" y="4383464"/>
            <a:ext cx="4842235" cy="140038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Prepared For CEO &amp; CMO</a:t>
            </a:r>
          </a:p>
          <a:p>
            <a:endParaRPr lang="en-US" sz="1400" dirty="0">
              <a:solidFill>
                <a:schemeClr val="bg1">
                  <a:lumMod val="50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Prepared By Uzair Khan</a:t>
            </a:r>
          </a:p>
          <a:p>
            <a:endParaRPr lang="en-US" sz="1400" dirty="0">
              <a:solidFill>
                <a:schemeClr val="bg1">
                  <a:lumMod val="50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 2/15/2026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379470-F38D-1061-5A23-85AEC41C1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490" y="0"/>
            <a:ext cx="4141509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98E98C-EAB3-E97E-4569-A50E3475A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7" y="5335572"/>
            <a:ext cx="2318992" cy="213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255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E65BA-A592-978A-4EC5-6E2A3C7D0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84636-3C88-1996-1CB3-E2582A236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216" y="1772239"/>
            <a:ext cx="2582945" cy="85783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Introduction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3EB3AD-E3CA-A156-BCDF-57167819CBF3}"/>
              </a:ext>
            </a:extLst>
          </p:cNvPr>
          <p:cNvSpPr/>
          <p:nvPr/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7E056F-24BB-729C-4328-D3F9F49AD75B}"/>
              </a:ext>
            </a:extLst>
          </p:cNvPr>
          <p:cNvSpPr/>
          <p:nvPr/>
        </p:nvSpPr>
        <p:spPr>
          <a:xfrm>
            <a:off x="838200" y="0"/>
            <a:ext cx="11353800" cy="1376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16CB0E-C283-37DF-1EBB-7B586E4C1FE0}"/>
              </a:ext>
            </a:extLst>
          </p:cNvPr>
          <p:cNvSpPr/>
          <p:nvPr/>
        </p:nvSpPr>
        <p:spPr>
          <a:xfrm>
            <a:off x="1131217" y="235670"/>
            <a:ext cx="1442300" cy="8814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A54C73-0631-C5FA-EE8A-F49884B7A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24" y="5326145"/>
            <a:ext cx="2318992" cy="213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41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54B16-BE54-7A71-8B13-AEF96E20D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911" y="1"/>
            <a:ext cx="8107052" cy="135745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Analysis of Sales Trends ,Customer Behavior and Geographic Demand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2632BE-260A-A61A-CD52-311E89A18B6C}"/>
              </a:ext>
            </a:extLst>
          </p:cNvPr>
          <p:cNvSpPr/>
          <p:nvPr/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A8D811-3E4E-7D0A-A4CF-959824F9A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24" y="5326145"/>
            <a:ext cx="2318992" cy="2130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37DAA1-C789-701D-FF93-671C9962C8B9}"/>
              </a:ext>
            </a:extLst>
          </p:cNvPr>
          <p:cNvSpPr txBox="1"/>
          <p:nvPr/>
        </p:nvSpPr>
        <p:spPr>
          <a:xfrm>
            <a:off x="1404594" y="1357460"/>
            <a:ext cx="81070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Situation: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Retail sales performance varies across time, regions, and customers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Complication: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Lack of clear understanding of revenue drivers limits strategic decision-making.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Key Question: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Where should the business focus to maximize revenue growth?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Key Insight: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Revenue is driven by top markets, high-value customers, and seasonal demand trends.</a:t>
            </a:r>
          </a:p>
        </p:txBody>
      </p:sp>
    </p:spTree>
    <p:extLst>
      <p:ext uri="{BB962C8B-B14F-4D97-AF65-F5344CB8AC3E}">
        <p14:creationId xmlns:p14="http://schemas.microsoft.com/office/powerpoint/2010/main" val="1234679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EA509-DF03-40BC-4D22-590DFFC86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F53E7-4201-A7AF-C89C-8D6BCB179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504" y="54797"/>
            <a:ext cx="8107052" cy="1357459"/>
          </a:xfrm>
        </p:spPr>
        <p:txBody>
          <a:bodyPr>
            <a:normAutofit/>
          </a:bodyPr>
          <a:lstStyle/>
          <a:p>
            <a:r>
              <a:rPr lang="en-AU" sz="28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Executive summary</a:t>
            </a:r>
            <a:br>
              <a:rPr lang="en-AU" sz="2800" dirty="0"/>
            </a:br>
            <a:endParaRPr lang="en-US" sz="2800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C7DFE4-C9A3-E28D-34FD-831E365F6E30}"/>
              </a:ext>
            </a:extLst>
          </p:cNvPr>
          <p:cNvSpPr/>
          <p:nvPr/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B587F-FE50-717E-E89F-8FD2C4A07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78" y="5310232"/>
            <a:ext cx="2318992" cy="2130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93A7FD-998E-6FEA-3164-FE0CD689A4DB}"/>
              </a:ext>
            </a:extLst>
          </p:cNvPr>
          <p:cNvSpPr txBox="1"/>
          <p:nvPr/>
        </p:nvSpPr>
        <p:spPr>
          <a:xfrm>
            <a:off x="2693710" y="1796212"/>
            <a:ext cx="2064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Argument 1</a:t>
            </a:r>
          </a:p>
          <a:p>
            <a:endParaRPr lang="en-AU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3A67445-FFC1-EC47-33B7-9BDE565CA978}"/>
              </a:ext>
            </a:extLst>
          </p:cNvPr>
          <p:cNvSpPr/>
          <p:nvPr/>
        </p:nvSpPr>
        <p:spPr>
          <a:xfrm>
            <a:off x="1564849" y="1621410"/>
            <a:ext cx="763572" cy="7258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73C0DA-8B68-3962-A51C-8DC9041BF1F6}"/>
              </a:ext>
            </a:extLst>
          </p:cNvPr>
          <p:cNvSpPr/>
          <p:nvPr/>
        </p:nvSpPr>
        <p:spPr>
          <a:xfrm>
            <a:off x="1630639" y="4277115"/>
            <a:ext cx="800886" cy="7258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408BC2-A6F0-C6C7-39C3-6F9D789A456F}"/>
              </a:ext>
            </a:extLst>
          </p:cNvPr>
          <p:cNvSpPr txBox="1"/>
          <p:nvPr/>
        </p:nvSpPr>
        <p:spPr>
          <a:xfrm>
            <a:off x="2693710" y="4541314"/>
            <a:ext cx="2064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Argument 2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6CD724-C680-6282-26C5-D6F610ABF24A}"/>
              </a:ext>
            </a:extLst>
          </p:cNvPr>
          <p:cNvSpPr txBox="1"/>
          <p:nvPr/>
        </p:nvSpPr>
        <p:spPr>
          <a:xfrm>
            <a:off x="4645846" y="1770065"/>
            <a:ext cx="5689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Market &amp; Regional Revenue Performance</a:t>
            </a:r>
          </a:p>
          <a:p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3E942-4B61-9A14-D9C4-7C259180A0AD}"/>
              </a:ext>
            </a:extLst>
          </p:cNvPr>
          <p:cNvSpPr txBox="1"/>
          <p:nvPr/>
        </p:nvSpPr>
        <p:spPr>
          <a:xfrm>
            <a:off x="4645846" y="4519806"/>
            <a:ext cx="6166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Customer Revenue Contribution</a:t>
            </a:r>
          </a:p>
          <a:p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64A2AB-D728-3101-2C9A-B226A994DCA1}"/>
              </a:ext>
            </a:extLst>
          </p:cNvPr>
          <p:cNvSpPr txBox="1"/>
          <p:nvPr/>
        </p:nvSpPr>
        <p:spPr>
          <a:xfrm flipH="1">
            <a:off x="11365584" y="3535052"/>
            <a:ext cx="78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1248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85BC3-0DED-FCCB-A26F-E0FF708D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8EE1F-0025-5C44-1228-106C74578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217" y="1989055"/>
            <a:ext cx="4722829" cy="857839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Market &amp; Regional Revenue Performance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BECA74-E893-D178-2836-B7A18CE63BBD}"/>
              </a:ext>
            </a:extLst>
          </p:cNvPr>
          <p:cNvSpPr/>
          <p:nvPr/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C05BF1-A9AB-4FE1-AFB1-C9B08F95E9FC}"/>
              </a:ext>
            </a:extLst>
          </p:cNvPr>
          <p:cNvSpPr/>
          <p:nvPr/>
        </p:nvSpPr>
        <p:spPr>
          <a:xfrm>
            <a:off x="838200" y="0"/>
            <a:ext cx="11353800" cy="1376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158E60-FF67-1A4B-BD3F-974E12B86A8F}"/>
              </a:ext>
            </a:extLst>
          </p:cNvPr>
          <p:cNvSpPr/>
          <p:nvPr/>
        </p:nvSpPr>
        <p:spPr>
          <a:xfrm>
            <a:off x="1131217" y="235670"/>
            <a:ext cx="3478490" cy="8814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2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Task 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30EB5-67F3-CCCE-8E52-80B5D0BC7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24" y="5326145"/>
            <a:ext cx="2318992" cy="213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77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94C51-CECB-BB71-C106-2BBA20A5A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77F91-3114-4CB6-DB9C-8EF89A8AE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911" y="1"/>
            <a:ext cx="8107052" cy="135745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Regional Demand Drives Revenue Growth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FACBB8-BAB5-0572-D44C-3BC1F5B22902}"/>
              </a:ext>
            </a:extLst>
          </p:cNvPr>
          <p:cNvSpPr/>
          <p:nvPr/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FB0E1B-2861-7DC7-ED4A-9DBA194E8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24" y="5326145"/>
            <a:ext cx="2318992" cy="2130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28A37B-113A-7EC3-75A3-F9CE170A9CA3}"/>
              </a:ext>
            </a:extLst>
          </p:cNvPr>
          <p:cNvSpPr txBox="1"/>
          <p:nvPr/>
        </p:nvSpPr>
        <p:spPr>
          <a:xfrm>
            <a:off x="1234911" y="958879"/>
            <a:ext cx="8107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European markets are the primary drivers of global retail revenue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040279-8098-DF82-5016-23DB69D7C773}"/>
              </a:ext>
            </a:extLst>
          </p:cNvPr>
          <p:cNvSpPr txBox="1"/>
          <p:nvPr/>
        </p:nvSpPr>
        <p:spPr>
          <a:xfrm>
            <a:off x="1234910" y="2039855"/>
            <a:ext cx="5552389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Netherlands generates highest revenue contribution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Ireland and Germany follow as strong performing markets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Europe dominates global demand concentration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Other regions show growth potential but lower revenue share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9F1269-9CEE-0925-1ABA-A5AF8609E4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820" y="1879047"/>
            <a:ext cx="4538286" cy="3447098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27942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EBDB5-FD01-2F10-E884-1D2E59967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95785-EF1D-1B6B-74C9-781EDE857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911" y="1"/>
            <a:ext cx="8107052" cy="135745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Global Demand Distribution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A13B95-AE96-30A6-84B5-64A674F5A89B}"/>
              </a:ext>
            </a:extLst>
          </p:cNvPr>
          <p:cNvSpPr/>
          <p:nvPr/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B17096-0BC4-1B5C-3A1F-3EB778647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24" y="5326145"/>
            <a:ext cx="2318992" cy="2130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7A90E6-47BC-F732-5156-1D7FC918F82D}"/>
              </a:ext>
            </a:extLst>
          </p:cNvPr>
          <p:cNvSpPr txBox="1"/>
          <p:nvPr/>
        </p:nvSpPr>
        <p:spPr>
          <a:xfrm>
            <a:off x="1234911" y="904973"/>
            <a:ext cx="8107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Revenue demand is highly concentrated geographically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AE5121-4641-1641-5060-F1231CBEA53D}"/>
              </a:ext>
            </a:extLst>
          </p:cNvPr>
          <p:cNvSpPr txBox="1"/>
          <p:nvPr/>
        </p:nvSpPr>
        <p:spPr>
          <a:xfrm>
            <a:off x="1234910" y="1879047"/>
            <a:ext cx="59671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Strong customer demand is visible across European region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Limited demand concentration observed in Asia and South America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Geographic expansion presents opportunity for revenue growth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Current market reliance increases business risk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14B08B-058B-751C-A772-ABD2A1EA86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077" y="1551304"/>
            <a:ext cx="4735399" cy="377484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201266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BB254-67F2-A0A4-3ED6-1765B35B6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BA0EE-3617-0BE2-8DCC-BBC7F4F8A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911" y="1"/>
            <a:ext cx="8107052" cy="135745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Monthly Revenue Growth Trend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D37FC6-F4FB-EBBC-8C2D-EC1EDB2BC775}"/>
              </a:ext>
            </a:extLst>
          </p:cNvPr>
          <p:cNvSpPr/>
          <p:nvPr/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71EDA9-1FDF-AE0D-9F5B-1195D42BB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24" y="5326145"/>
            <a:ext cx="2318992" cy="2130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DA0074-4AD7-E1D6-D21F-624E722E8FFF}"/>
              </a:ext>
            </a:extLst>
          </p:cNvPr>
          <p:cNvSpPr txBox="1"/>
          <p:nvPr/>
        </p:nvSpPr>
        <p:spPr>
          <a:xfrm>
            <a:off x="1234911" y="923827"/>
            <a:ext cx="8107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Revenue increases significantly in the second half of the year.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913FC-6B62-80AC-8303-E35AEE9A894A}"/>
              </a:ext>
            </a:extLst>
          </p:cNvPr>
          <p:cNvSpPr txBox="1"/>
          <p:nvPr/>
        </p:nvSpPr>
        <p:spPr>
          <a:xfrm>
            <a:off x="1234911" y="1951672"/>
            <a:ext cx="559009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Content: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Revenue steadily grows from early months into Q4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November records highest monthly revenue performance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December shows decline indicating seasonal volatility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Peak periods present opportunity for promotional planning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C57615-22D1-FF49-F97A-56ADD7176E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006" y="2035224"/>
            <a:ext cx="5282153" cy="329092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694210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A4129-2EAB-E3A6-A075-0C63D4039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8EAC4-45A5-E74D-EAE9-3CEAE065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783" y="1908928"/>
            <a:ext cx="4646238" cy="857839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Customer Revenue Contribution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5B4741-07CC-54EC-E59D-5C2C2280DB88}"/>
              </a:ext>
            </a:extLst>
          </p:cNvPr>
          <p:cNvSpPr/>
          <p:nvPr/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1D9986-2A01-8F9F-57A9-2030B0F18A52}"/>
              </a:ext>
            </a:extLst>
          </p:cNvPr>
          <p:cNvSpPr/>
          <p:nvPr/>
        </p:nvSpPr>
        <p:spPr>
          <a:xfrm>
            <a:off x="838200" y="0"/>
            <a:ext cx="11353800" cy="1376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1BA0F6-BAAB-F30D-3355-B29E523CAB2D}"/>
              </a:ext>
            </a:extLst>
          </p:cNvPr>
          <p:cNvSpPr/>
          <p:nvPr/>
        </p:nvSpPr>
        <p:spPr>
          <a:xfrm>
            <a:off x="1131216" y="235670"/>
            <a:ext cx="3695308" cy="8814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2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Task 02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285100-0CEA-0BFF-CFF2-9001A4D27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24" y="5326145"/>
            <a:ext cx="2318992" cy="213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80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50BBE-C240-41FB-EEFD-370E036CB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4DE5-C66E-CF5E-6457-C8EEDE5B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911" y="1"/>
            <a:ext cx="8107052" cy="135745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Revenue Is Concentrated Among Top Customers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0B40CB-B5AF-9FCB-B933-4747998694DC}"/>
              </a:ext>
            </a:extLst>
          </p:cNvPr>
          <p:cNvSpPr/>
          <p:nvPr/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825E8C-B468-6207-F758-490BAE472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24" y="5326145"/>
            <a:ext cx="2318992" cy="2130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4EB056-9EDC-96BA-8C04-4D641DF6D482}"/>
              </a:ext>
            </a:extLst>
          </p:cNvPr>
          <p:cNvSpPr txBox="1"/>
          <p:nvPr/>
        </p:nvSpPr>
        <p:spPr>
          <a:xfrm>
            <a:off x="1234911" y="914400"/>
            <a:ext cx="8107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 small group of customers generates the majority of retail revenue.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7A8F7E-B7BB-A9AD-4B72-52D14E7C6ECD}"/>
              </a:ext>
            </a:extLst>
          </p:cNvPr>
          <p:cNvSpPr txBox="1"/>
          <p:nvPr/>
        </p:nvSpPr>
        <p:spPr>
          <a:xfrm>
            <a:off x="1414020" y="2064470"/>
            <a:ext cx="58917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Content: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Top customers contribute significantly higher revenue than average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Revenue declines sharply beyond top tier customers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Indicates strong loyalty but high dependency risk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Customer diversification can improve revenue stability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2E0B07-4775-CA84-112E-7BB580C05A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568" y="2240876"/>
            <a:ext cx="5027316" cy="318965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171048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1F20-5012-C568-8128-9FF62095B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C9F0-D793-DC1C-DDF0-449C3B4C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911" y="1"/>
            <a:ext cx="8107052" cy="135745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Customer Revenue Distribution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97F4BF-A567-3491-FB95-EE9A32B5502A}"/>
              </a:ext>
            </a:extLst>
          </p:cNvPr>
          <p:cNvSpPr/>
          <p:nvPr/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04BEFF-576C-8CF2-CA3E-BC91CB636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24" y="5326145"/>
            <a:ext cx="2318992" cy="2130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BDCF99-AB4B-22AA-1104-C8AB8269EFFD}"/>
              </a:ext>
            </a:extLst>
          </p:cNvPr>
          <p:cNvSpPr txBox="1"/>
          <p:nvPr/>
        </p:nvSpPr>
        <p:spPr>
          <a:xfrm>
            <a:off x="1234911" y="940026"/>
            <a:ext cx="8107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Customer spending behavior reveals growth and retention opportunities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24E209-CF05-CFCC-FB6E-638F8E4B12DE}"/>
              </a:ext>
            </a:extLst>
          </p:cNvPr>
          <p:cNvSpPr txBox="1"/>
          <p:nvPr/>
        </p:nvSpPr>
        <p:spPr>
          <a:xfrm>
            <a:off x="1414020" y="1979629"/>
            <a:ext cx="59483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Content: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Highest revenue customer contributes nearly double compared to lower tier customers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Customer spending pattern highlights premium buyer segment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Mid-tier customers represent expansion opportunity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Customer retention strategies can improve revenue consistency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852535-2B57-B81C-7A7B-2A2961FF65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223" y="2526381"/>
            <a:ext cx="4734586" cy="2869567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17430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AA48C-DEFB-91DE-9BF0-D75B9E829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2364A-B520-D102-E0C2-7D6DED014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783" y="1908928"/>
            <a:ext cx="4646238" cy="857839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Final Recommendation / 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4BCFBB-81A0-0323-29FE-4E592872B142}"/>
              </a:ext>
            </a:extLst>
          </p:cNvPr>
          <p:cNvSpPr/>
          <p:nvPr/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28CCAB-90C2-D586-F49F-2249A4272100}"/>
              </a:ext>
            </a:extLst>
          </p:cNvPr>
          <p:cNvSpPr/>
          <p:nvPr/>
        </p:nvSpPr>
        <p:spPr>
          <a:xfrm>
            <a:off x="838200" y="0"/>
            <a:ext cx="11353800" cy="1376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FEA269-DFAB-FA27-6C64-5A0ACE1A46A9}"/>
              </a:ext>
            </a:extLst>
          </p:cNvPr>
          <p:cNvSpPr/>
          <p:nvPr/>
        </p:nvSpPr>
        <p:spPr>
          <a:xfrm>
            <a:off x="1131217" y="235670"/>
            <a:ext cx="1517716" cy="8814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2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03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1EAA83-CD00-780C-B737-45FC64446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24" y="5326145"/>
            <a:ext cx="2318992" cy="213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467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36114-D00E-6A20-CDAA-C76AF241E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F333D-E13E-8CFE-9926-276A5623B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911" y="1"/>
            <a:ext cx="8107052" cy="135745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Strategic Revenue Growth Recommendation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6B4056-B00E-25F6-0DCA-CE176BD76FBF}"/>
              </a:ext>
            </a:extLst>
          </p:cNvPr>
          <p:cNvSpPr/>
          <p:nvPr/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D38D2C-53E2-75DF-8E4A-574252318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24" y="5326145"/>
            <a:ext cx="2318992" cy="2130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C4A259-9D59-3E80-D216-8C318CCD697B}"/>
              </a:ext>
            </a:extLst>
          </p:cNvPr>
          <p:cNvSpPr txBox="1"/>
          <p:nvPr/>
        </p:nvSpPr>
        <p:spPr>
          <a:xfrm>
            <a:off x="1253765" y="961535"/>
            <a:ext cx="8257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Expand high-performing markets while reducing dependency on limited customers.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FB7C05-33FD-9164-65CA-E79A4CEACBEA}"/>
              </a:ext>
            </a:extLst>
          </p:cNvPr>
          <p:cNvSpPr txBox="1"/>
          <p:nvPr/>
        </p:nvSpPr>
        <p:spPr>
          <a:xfrm>
            <a:off x="1715678" y="1800520"/>
            <a:ext cx="825788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Market Expansion Strategy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Increase investment in Netherlands, Ireland, and Germany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Expand operations in emerging international markets</a:t>
            </a:r>
          </a:p>
          <a:p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US" dirty="0"/>
              <a:t> </a:t>
            </a: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Seasonal Revenue Optimization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Strengthen marketing during high-performing months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Improve inventory planning for peak demand</a:t>
            </a:r>
          </a:p>
          <a:p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US" dirty="0"/>
              <a:t> </a:t>
            </a: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Customer Diversification Strategy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Develop retention programs for top customers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Introduce targeted promotions for mid-tier customers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Expand customer acquisition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1206146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436</Words>
  <Application>Microsoft Office PowerPoint</Application>
  <PresentationFormat>Widescreen</PresentationFormat>
  <Paragraphs>108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Roboto Light</vt:lpstr>
      <vt:lpstr>Roboto Medium</vt:lpstr>
      <vt:lpstr>Wingdings</vt:lpstr>
      <vt:lpstr>Office Theme</vt:lpstr>
      <vt:lpstr> Retail performance &amp; Revenue  insights Report  Analysis of Sales Trends, Customer Behavior and   Geographic Demand</vt:lpstr>
      <vt:lpstr>Introduction</vt:lpstr>
      <vt:lpstr>Analysis of Sales Trends ,Customer Behavior and Geographic Demand</vt:lpstr>
      <vt:lpstr>Executive summary </vt:lpstr>
      <vt:lpstr>Market &amp; Regional Revenue Performance</vt:lpstr>
      <vt:lpstr>Regional Demand Drives Revenue Growth</vt:lpstr>
      <vt:lpstr>Global Demand Distribution</vt:lpstr>
      <vt:lpstr>Monthly Revenue Growth Trend</vt:lpstr>
      <vt:lpstr>Customer Revenue Contribution</vt:lpstr>
      <vt:lpstr>Revenue Is Concentrated Among Top Customers</vt:lpstr>
      <vt:lpstr>Customer Revenue Distribution Analysis</vt:lpstr>
      <vt:lpstr>Final Recommendation / Conclusion</vt:lpstr>
      <vt:lpstr>Strategic Revenue Growth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uzair khan</dc:creator>
  <cp:lastModifiedBy>uzair khan</cp:lastModifiedBy>
  <cp:revision>28</cp:revision>
  <dcterms:created xsi:type="dcterms:W3CDTF">2026-02-15T10:42:04Z</dcterms:created>
  <dcterms:modified xsi:type="dcterms:W3CDTF">2026-02-25T11:35:34Z</dcterms:modified>
</cp:coreProperties>
</file>